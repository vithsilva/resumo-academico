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DIGITAL E DESIGN INCLUSIVO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1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1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Gerdson Luiz Felix Oliveira</a:t>
            </a:r>
          </a:p>
          <a:p>
            <a:pPr>
              <a:spcBef>
                <a:spcPct val="50000"/>
              </a:spcBef>
            </a:pPr>
            <a:r>
              <a:rPr lang="pt-BR" altLang="pt-BR" sz="11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João Vitor Oliveira da Silva</a:t>
            </a:r>
          </a:p>
          <a:p>
            <a:pPr>
              <a:spcBef>
                <a:spcPct val="50000"/>
              </a:spcBef>
            </a:pPr>
            <a:r>
              <a:rPr lang="pt-BR" altLang="pt-BR" sz="11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Bruno Luiz dos Santos</a:t>
            </a:r>
          </a:p>
          <a:p>
            <a:pPr>
              <a:spcBef>
                <a:spcPct val="50000"/>
              </a:spcBef>
            </a:pPr>
            <a:r>
              <a:rPr lang="pt-BR" altLang="pt-BR" sz="11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João Vithor Silva Albuquerque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0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3900000"/>
            <a:ext cx="42624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digital · Design inclusivo · Experiência do usuário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Problemática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Menos de 1% dos sites brasileiros passam nos testes de acessibilidade (0,46% de ~21 milhões)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Barreiras sensoriais, físicas e cognitivas impedem a navegação autônoma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Como o UI/UX e o Design Universal podem reduzir essas barreiras?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Justificativa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Cerca de 18,6 milhões de brasileiros têm alguma deficiência (IBGE, 2022)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Garante o direito de acesso e o cumprimento da LBI (Lei nº 13.146/2015)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Interfaces inclusivas melhoram a experiência de todos os usuários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Objetivo geral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Analisar, na literatura recente, as barreiras de acesso de pessoas com deficiência a sites e como práticas de UI/UX e Design Universal (WCAG e LBI) as reduzem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Objetivos específicos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Identificar as dificuldades de acesso (motora, visual, auditiva e cognitiva)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Descrever diretrizes e princípios de acessibilidade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Discutir práticas de UI/UX e seus efeitos na usabilidade e na independência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Sintetizar a relação entre barreiras e práticas de design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26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500" dirty="0">
                <a:effectLst/>
                <a:latin typeface="Segoe UI" panose="020B0502040204020203" pitchFamily="34" charset="0"/>
              </a:rPr>
              <a:t>Pesquisa qualitativa, descritiva e integrativa (revisão bibliográfica). Foram fichados três artigos de 2024, selecionados por temporalidade (2021–2026) e relevância para a acessibilidade digital. Os dados foram organizados em uma matriz de síntese com três eixos: barreiras de acessibilidade, práticas de design e UX, e formação profissional e fatores organizacionais. A análise comparou convergências, divergências, limitações e lacunas.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Neves et al. (2024)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UI/UX para deficiência visual: modelo POUR/WCAG 2.1, contraste, tipografia e semântica HTML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Souza e Silva (2024)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(In)acessibilidade e ergonomia cognitiva: evolução das WCAG e formação dos profissionais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Silva e Pinto (2024)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Impacto do design em sistemas acessíveis: planejar desde o início e aspectos socioculturais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Eixo 1 – Barreiras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Só 0,46% de ~21 milhões de sites passam nos testes; média de 56,8 erros por página (WebAIM, 2024)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Eixo 2 – Design e UX como solução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Acessibilidade desde a concepção evita retrabalho e custos; POUR/WCAG orientam contraste, texto ajustável e navegação clara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Eixo 3 – Formação e organizações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Falta de competência e de priorização; 43,8% dos profissionais se declararam proficientes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500" dirty="0" b="1">
                <a:latin typeface="Verdana"/>
                <a:ea typeface="Verdana"/>
              </a:rPr>
              <a:t>Lacuna comum</a:t>
            </a:r>
          </a:p>
          <a:p>
            <a:pPr marL="400050" indent="-171450">
              <a:spcBef>
                <a:spcPts val="200"/>
              </a:spcBef>
              <a:buFont typeface="Arial"/>
              <a:buChar char="–"/>
            </a:pPr>
            <a:r>
              <a:rPr lang="pt-BR" sz="1300" dirty="0">
                <a:latin typeface="Verdana"/>
                <a:ea typeface="Verdana"/>
              </a:rPr>
              <a:t>Nenhum estudo testou as soluções com pessoas com deficiência em laboratório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600" dirty="0">
                <a:latin typeface="Verdana"/>
                <a:ea typeface="Verdana"/>
              </a:rPr>
              <a:t>As barreiras são estruturais e afetam diferentes perfis de usuários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600" dirty="0">
                <a:latin typeface="Verdana"/>
                <a:ea typeface="Verdana"/>
              </a:rPr>
              <a:t>Design inclusivo desde a concepção é mais eficaz e barato que corrigir depois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600" dirty="0">
                <a:latin typeface="Verdana"/>
                <a:ea typeface="Verdana"/>
              </a:rPr>
              <a:t>Acessibilidade exige UI/UX, ergonomia cognitiva e compromisso organizacional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600" dirty="0">
                <a:latin typeface="Verdana"/>
                <a:ea typeface="Verdana"/>
              </a:rPr>
              <a:t>É preciso reforçar a formação de designers e desenvolvedores</a:t>
            </a:r>
          </a:p>
          <a:p>
            <a:pPr marL="171450" indent="-171450">
              <a:spcBef>
                <a:spcPts val="700"/>
              </a:spcBef>
              <a:buFont typeface="Wingdings" pitchFamily="2" charset="2"/>
              <a:buChar char="ü"/>
            </a:pPr>
            <a:r>
              <a:rPr lang="pt-BR" sz="1600" dirty="0">
                <a:latin typeface="Verdana"/>
                <a:ea typeface="Verdana"/>
              </a:rPr>
              <a:t>Faltam testes empíricos de usabilidade com usuários reais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1950000"/>
            <a:ext cx="6130925" cy="3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spcBef>
                <a:spcPts val="800"/>
              </a:spcBef>
              <a:buNone/>
            </a:pPr>
            <a:r>
              <a:rPr lang="pt-BR" sz="1100" dirty="0">
                <a:latin typeface="Verdana"/>
                <a:ea typeface="Verdana"/>
              </a:rPr>
              <a:t>NEVES, Otavio Matheus; COSTA, Rubio Rodrigo; DUARTE, Tathiana Amarante; FURTADO, Vitor Hugo. Interfaces acessíveis para pessoas com deficiência visual: desafios e soluções em UI/UX. In: ESCOLA REGIONAL DE INFORMÁTICA DE MATO GROSSO (ERI-MT), 13., 2024, Alto Araguaia. Anais [...]. Porto Alegre: Sociedade Brasileira de Computação, 2024.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pt-BR" sz="1100" dirty="0">
                <a:latin typeface="Verdana"/>
                <a:ea typeface="Verdana"/>
              </a:rPr>
              <a:t>SILVA, Isadora Moreira de Souza; PINTO, Giuliano Scombatti. O impacto do design na criação de sistemas mais acessíveis. Revista Interface Tecnológica, v. 21, n. 2, p. 224-235, 2024. DOI: 10.31510/infa.v21i2.2099.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pt-BR" sz="1100" dirty="0">
                <a:latin typeface="Verdana"/>
                <a:ea typeface="Verdana"/>
              </a:rPr>
              <a:t>SOUZA, Marília Rodrigues de; SILVA, Tiago Barros Pontes e. (In)acessibilidade e ergonomia cognitiva: perspectiva de integração em prol da inclusão digital. In: CONGRESSO BRASILEIRO DE PESQUISA E DESENVOLVIMENTO EM DESIGN, 15., 2024, Manaus. Anais [...]. Manaus: UFAM, 2024.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2800" i="1" dirty="0">
                <a:solidFill>
                  <a:schemeClr val="bg1"/>
                </a:solidFill>
                <a:latin typeface="Verdana" panose="020B0604030504040204" pitchFamily="34" charset="0"/>
              </a:rPr>
              <a:t>Acessibilidade não é um adicional: é parte essencial do design.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 eaLnBrk="1" hangingPunct="1" indent="0"/>
            <a:r>
              <a:rPr lang="en-US" altLang="pt-BR" sz="2800" i="1" dirty="0">
                <a:solidFill>
                  <a:schemeClr val="bg1"/>
                </a:solidFill>
                <a:latin typeface="Verdana" panose="020B0604030504040204" pitchFamily="34" charset="0"/>
              </a:rPr>
              <a:t>Obrigado!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20</cp:revision>
  <dcterms:created xsi:type="dcterms:W3CDTF">2021-05-14T17:32:15Z</dcterms:created>
  <dcterms:modified xsi:type="dcterms:W3CDTF">2025-05-22T21:53:16Z</dcterms:modified>
</cp:coreProperties>
</file>